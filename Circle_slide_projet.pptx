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21945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888888"/>
                </a:solidFill>
                <a:latin typeface="Arial"/>
              </a:rPr>
              <a:t>[ LOGO CIRCLE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2286000" cy="5120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22222"/>
                </a:solidFill>
                <a:latin typeface="Arial"/>
              </a:rPr>
              <a:t>Circle harmonise la communication logistique de la filière vinicole, de la Place de Bordeaux à l'ensemble des acteurs du vin.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2222"/>
                </a:solidFill>
                <a:latin typeface="Arial"/>
              </a:rPr>
              <a:t>Client : </a:t>
            </a:r>
            <a:r>
              <a:rPr sz="950" b="0" i="1">
                <a:solidFill>
                  <a:srgbClr val="888888"/>
                </a:solidFill>
                <a:latin typeface="Arial"/>
              </a:rPr>
              <a:t>[à compléter]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2222"/>
                </a:solidFill>
                <a:latin typeface="Arial"/>
              </a:rPr>
              <a:t>Secteur : </a:t>
            </a:r>
            <a:r>
              <a:rPr sz="950" b="0" i="0">
                <a:solidFill>
                  <a:srgbClr val="222222"/>
                </a:solidFill>
                <a:latin typeface="Arial"/>
              </a:rPr>
              <a:t>Vin &amp; spiritueux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888888"/>
                </a:solidFill>
                <a:latin typeface="Arial"/>
              </a:rPr>
              <a:t>[à préciser]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" b="0" i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2222"/>
                </a:solidFill>
                <a:latin typeface="Arial"/>
              </a:rPr>
              <a:t>Date : </a:t>
            </a:r>
            <a:r>
              <a:rPr sz="950" b="0" i="0">
                <a:solidFill>
                  <a:srgbClr val="222222"/>
                </a:solidFill>
                <a:latin typeface="Arial"/>
              </a:rPr>
              <a:t>[ MMM AAAA – MMM AAAA 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22222"/>
                </a:solidFill>
                <a:latin typeface="Arial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2222"/>
                </a:solidFill>
                <a:latin typeface="Arial"/>
              </a:rPr>
              <a:t>En bref 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222222"/>
                </a:solidFill>
                <a:latin typeface="Arial"/>
              </a:rPr>
              <a:t>Le code CIRCLE — Code d'Identification vinicole pour le Règlement, la Compensation, la Logistique et les Exportations.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274320"/>
            <a:ext cx="8808415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1F3352"/>
                </a:solidFill>
                <a:latin typeface="Arial"/>
              </a:rPr>
              <a:t>Circle — API d'interopérabilité pour la logistique vinicole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Un langage numérique unique pour fluidifier les échanges de la filière vin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325880"/>
            <a:ext cx="8808415" cy="274320"/>
          </a:xfrm>
          <a:prstGeom prst="rect">
            <a:avLst/>
          </a:prstGeom>
          <a:solidFill>
            <a:srgbClr val="FCE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3352"/>
                </a:solidFill>
                <a:latin typeface="Arial"/>
              </a:rPr>
              <a:t>●  Contexte &amp; enjeux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636776"/>
            <a:ext cx="8808415" cy="1051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22222"/>
                </a:solidFill>
                <a:latin typeface="Arial"/>
              </a:rPr>
              <a:t>À l'ère de la dématérialisation, les acteurs du vin échangent des informations logistiques, de règlement et d'export sans langage commun — source d'erreurs et de pertes de temps.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2222"/>
                </a:solidFill>
                <a:latin typeface="Arial"/>
              </a:rPr>
              <a:t>Les enjeux 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22222"/>
                </a:solidFill>
                <a:latin typeface="Arial"/>
              </a:rPr>
              <a:t>•  Harmoniser la communication entre les unités logistiques de la filière vinicole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22222"/>
                </a:solidFill>
                <a:latin typeface="Arial"/>
              </a:rPr>
              <a:t>•  Fiabiliser et accélérer la transmission numérique des données produit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22222"/>
                </a:solidFill>
                <a:latin typeface="Arial"/>
              </a:rPr>
              <a:t>•  Connecter Châteaux, négociants, distributeurs et clients autour d'un standard partagé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2761488"/>
            <a:ext cx="8808415" cy="274320"/>
          </a:xfrm>
          <a:prstGeom prst="rect">
            <a:avLst/>
          </a:prstGeom>
          <a:solidFill>
            <a:srgbClr val="FCE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3352"/>
                </a:solidFill>
                <a:latin typeface="Arial"/>
              </a:rPr>
              <a:t>●  Notre réponse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072384"/>
            <a:ext cx="8808415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22222"/>
                </a:solidFill>
                <a:latin typeface="Arial"/>
              </a:rPr>
              <a:t>Une API de référence (Ruby on Rails) qui industrialise le code CIRCLE et son écosystème 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2222"/>
                </a:solidFill>
                <a:latin typeface="Arial"/>
              </a:rPr>
              <a:t>•  Codification standardisée : </a:t>
            </a:r>
            <a:r>
              <a:rPr sz="950" b="0" i="0">
                <a:solidFill>
                  <a:srgbClr val="222222"/>
                </a:solidFill>
                <a:latin typeface="Arial"/>
              </a:rPr>
              <a:t>chaque vin reçoit un code CIRCLE unique encodant données logistiques, règlement et export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2222"/>
                </a:solidFill>
                <a:latin typeface="Arial"/>
              </a:rPr>
              <a:t>•  Moteur de validation : </a:t>
            </a:r>
            <a:r>
              <a:rPr sz="950" b="0" i="0">
                <a:solidFill>
                  <a:srgbClr val="222222"/>
                </a:solidFill>
                <a:latin typeface="Arial"/>
              </a:rPr>
              <a:t>contrôle automatique des codes (combinaisons, dépendances, formats, règles métier) pour fiabiliser chaque échange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2222"/>
                </a:solidFill>
                <a:latin typeface="Arial"/>
              </a:rPr>
              <a:t>•  Interopérabilité entre acteurs : </a:t>
            </a:r>
            <a:r>
              <a:rPr sz="950" b="0" i="0">
                <a:solidFill>
                  <a:srgbClr val="222222"/>
                </a:solidFill>
                <a:latin typeface="Arial"/>
              </a:rPr>
              <a:t>mapping des identifiants partenaires et connexions sécurisées (handshake à clés) entre systèmes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22222"/>
                </a:solidFill>
                <a:latin typeface="Arial"/>
              </a:rPr>
              <a:t>•  Suivi du cycle de commande : </a:t>
            </a:r>
            <a:r>
              <a:rPr sz="950" b="0" i="0">
                <a:solidFill>
                  <a:srgbClr val="222222"/>
                </a:solidFill>
                <a:latin typeface="Arial"/>
              </a:rPr>
              <a:t>workflow des statuts, de la nouvelle commande au bon de livraison et à la clôture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3240" y="4608576"/>
            <a:ext cx="8808415" cy="274320"/>
          </a:xfrm>
          <a:prstGeom prst="rect">
            <a:avLst/>
          </a:prstGeom>
          <a:solidFill>
            <a:srgbClr val="FCE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F3352"/>
                </a:solidFill>
                <a:latin typeface="Arial"/>
              </a:rPr>
              <a:t>●  Résultats / Livrables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4919472"/>
            <a:ext cx="8808415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22222"/>
                </a:solidFill>
                <a:latin typeface="Arial"/>
              </a:rPr>
              <a:t>•  Une API d'échange en production, ouverte aux partenaires de la filière (documentation Swagger)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22222"/>
                </a:solidFill>
                <a:latin typeface="Arial"/>
              </a:rPr>
              <a:t>•  Un langage produit normalisé, transmissible sans risque d'erreur de saisie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22222"/>
                </a:solidFill>
                <a:latin typeface="Arial"/>
              </a:rPr>
              <a:t>•  Connexions partenaires authentifiées et journalisées (traçabilité des échanges)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22222"/>
                </a:solidFill>
                <a:latin typeface="Arial"/>
              </a:rPr>
              <a:t>•  Catalogue produits et gestion des commandes inter-acteurs centralisés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888888"/>
                </a:solidFill>
                <a:latin typeface="Arial"/>
              </a:rPr>
              <a:t>[à compléter : KPIs — nb de partenaires connectés, volume de commandes traitées, gain de temps]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Arial"/>
              </a:rPr>
              <a:t>Circle   ·   Étude de cas projet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